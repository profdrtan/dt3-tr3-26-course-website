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0ac423a-56a1-2a9f-0faa-171d0ccf4d04}">
          <p14:sldIdLst>
            <p14:sldId id="256"/>
            <p14:sldId id="257"/>
          </p14:sldIdLst>
        </p14:section>
        <p14:section name="Status" id="{bff724af-198d-6cbf-39b2-9d31c4df0ce8}">
          <p14:sldIdLst>
            <p14:sldId id="258"/>
          </p14:sldIdLst>
        </p14:section>
        <p14:section name="Live demo" id="{f0e9ebb3-f3ec-9ed0-2bef-8fafe3d3a8e1}">
          <p14:sldIdLst>
            <p14:sldId id="259"/>
            <p14:sldId id="260"/>
            <p14:sldId id="261"/>
          </p14:sldIdLst>
        </p14:section>
        <p14:section name="Evidence" id="{da5333c1-fe45-5f08-42c2-62252af89754}">
          <p14:sldIdLst>
            <p14:sldId id="262"/>
            <p14:sldId id="263"/>
          </p14:sldIdLst>
        </p14:section>
        <p14:section name="Team" id="{dffa7c84-f84c-2d19-177a-92fde0434a79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Presenting R1 opens: team name, members by role, and the date. Keep it under 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change this slide: every team runs the same order so the checking team can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honest: the checking team tests every line. Started at Step B? Mark all eight Pass with the commit that proves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page does not load: open it through the local server, not by double-clicking the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in your own words. Reading the code aloud is not an explanation.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Presenting R3. Labels: Confirmed (≥1.5× with the Summary), Warning (≥1.5× against it), Thin (&lt;0.7×), Normal (anything else).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Presenting R4. Show the screenshot from docs/verify.md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Presenting R2. Locked values must match predictions/vW8.json, committed before Wednesday 23:59.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Presenting R1. Numbers must match GitHub; the checking team can open the repo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Presenting R1 closes. Then the teams swap: the checking team presents.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</a:rPr>
              <a:t>Team [N] · Sprint 8 (vW8) · CP3405 Design Thinking III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A2433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1A2433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</a:rPr>
              <a:t>Team [N] · Sprint 8 (vW8) · CP3405 Design Thinking III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EEF2F6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EEF2F6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FA1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C7B7"/>
                </a:solidFill>
              </a:rPr>
              <a:t>CP3405 DESIGN THINKING III · TR3 2026 · SPRINT 8 (vW8)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EF2F6"/>
                </a:solidFill>
              </a:rPr>
              <a:t>Team [N]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D3DE"/>
                </a:solidFill>
              </a:rPr>
              <a:t>Catch up, then read the volume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120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DE"/>
                </a:solidFill>
              </a:rPr>
              <a:t>R1 [name] · R2 [name] · R3 [name]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3DE"/>
                </a:solidFill>
              </a:rPr>
              <a:t>R4 [name] · R5 [name] · R6 [name]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95528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5B942"/>
                </a:solidFill>
              </a:rPr>
              <a:t>Monday 2 November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433"/>
                </a:solidFill>
              </a:rPr>
              <a:t>How our 15 minutes run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85800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Step A 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Presenting R1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demo: data script, server, all seven tiles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Presenting R6, R5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indicator explained (row and member chosen by the checking team)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Checking team picks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8–10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volume panel and its label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Presenting R3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Biggest mismatch in verify.md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Presenting R4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four weekly calls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Presenting R2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14–15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Teamwork evidence and what we fix next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Presenting R1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433"/>
                </a:solidFill>
              </a:rPr>
              <a:t>Step A: our eight checks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120640"/>
                <a:gridCol w="1737360"/>
                <a:gridCol w="3657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(commit or file)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Seven tiles, each with its rating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[Pass / Fail]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[commit]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Summary = all 23 votes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[Pass / Fail]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[commit]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Needle points at the score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[Pass / Fail]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[commit]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change from previous daily close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[Pass / Fail]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[commit]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time = last completed bar, SGT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[Pass / Fail]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[commit]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Working on every row; MA Buy/Sell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[Pass / Fail]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[commit]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verify.md: 30 Min, Hourly, Daily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[Pass / Fail]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[commit]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index.html links to gold.html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[Pass / Fail]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[commit]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2F6"/>
                </a:solidFill>
              </a:rPr>
              <a:t>Live demo</a:t>
            </a:r>
            <a:endParaRPr lang="en-US" sz="3200" dirty="0"/>
          </a:p>
        </p:txBody>
      </p:sp>
      <p:sp>
        <p:nvSpPr>
          <p:cNvPr id="3" name="card R6 starts it, live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13304D"/>
          </a:solidFill>
          <a:ln w="9525">
            <a:solidFill>
              <a:srgbClr val="13304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2C7B7"/>
                </a:solidFill>
              </a:rPr>
              <a:t>R6 starts it, live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python engine/dashboard_data.py --loop 60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cd ui &amp;&amp; python -m http.server 8000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Bar time on screen: [today, HH:MM SGT]</a:t>
            </a:r>
            <a:endParaRPr lang="en-US" sz="1600" dirty="0"/>
          </a:p>
        </p:txBody>
      </p:sp>
      <p:sp>
        <p:nvSpPr>
          <p:cNvPr id="5" name="card R5 walks the page"/>
          <p:cNvSpPr/>
          <p:nvPr/>
        </p:nvSpPr>
        <p:spPr>
          <a:xfrm>
            <a:off x="6217920" y="146304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13304D"/>
          </a:solidFill>
          <a:ln w="9525">
            <a:solidFill>
              <a:srgbClr val="1330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164592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2C7B7"/>
                </a:solidFill>
              </a:rPr>
              <a:t>R5 walks the page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1. Open index.html, then gold.html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2. Click all seven tiles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3. Checking R4 compares one timeframe with Investing.com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3DE"/>
                </a:solidFill>
              </a:rPr>
              <a:t>Switch to the browser now. No screenshots instead of the live page.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FA1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433"/>
                </a:solidFill>
              </a:rPr>
              <a:t>One indicator, explained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675"/>
                </a:solidFill>
              </a:rPr>
              <a:t>The checking team picks the row and the member. Using the reference engine? Prepare one copy of this slide per member.</a:t>
            </a:r>
            <a:endParaRPr lang="en-US" sz="1500" dirty="0"/>
          </a:p>
        </p:txBody>
      </p:sp>
      <p:sp>
        <p:nvSpPr>
          <p:cNvPr id="4" name="card Indicator and settings"/>
          <p:cNvSpPr/>
          <p:nvPr/>
        </p:nvSpPr>
        <p:spPr>
          <a:xfrm>
            <a:off x="548640" y="182880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116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766E"/>
                </a:solidFill>
              </a:rPr>
              <a:t>Indicator and settings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[e.g. RSI(14), Wilder smoothing]</a:t>
            </a:r>
            <a:endParaRPr lang="en-US" sz="1600" dirty="0"/>
          </a:p>
        </p:txBody>
      </p:sp>
      <p:sp>
        <p:nvSpPr>
          <p:cNvPr id="6" name="card Inputs at this bar"/>
          <p:cNvSpPr/>
          <p:nvPr/>
        </p:nvSpPr>
        <p:spPr>
          <a:xfrm>
            <a:off x="6217920" y="182880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20116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766E"/>
                </a:solidFill>
              </a:rPr>
              <a:t>Inputs at this bar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[e.g. avg gain __, avg loss __]</a:t>
            </a:r>
            <a:endParaRPr lang="en-US" sz="1600" dirty="0"/>
          </a:p>
        </p:txBody>
      </p:sp>
      <p:sp>
        <p:nvSpPr>
          <p:cNvPr id="8" name="card Formula and result"/>
          <p:cNvSpPr/>
          <p:nvPr/>
        </p:nvSpPr>
        <p:spPr>
          <a:xfrm>
            <a:off x="548640" y="397764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1605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766E"/>
                </a:solidFill>
              </a:rPr>
              <a:t>Formula and result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[formula] = [value]</a:t>
            </a:r>
            <a:endParaRPr lang="en-US" sz="1600" dirty="0"/>
          </a:p>
        </p:txBody>
      </p:sp>
      <p:sp>
        <p:nvSpPr>
          <p:cNvPr id="10" name="card Rule and vote"/>
          <p:cNvSpPr/>
          <p:nvPr/>
        </p:nvSpPr>
        <p:spPr>
          <a:xfrm>
            <a:off x="6217920" y="397764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41605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766E"/>
                </a:solidFill>
              </a:rPr>
              <a:t>Rule and vote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[e.g. Buy &gt; 50, Sell &lt; 50] → [Buy / Sell / Neutral]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433"/>
                </a:solidFill>
              </a:rPr>
              <a:t>The volume panel</a:t>
            </a:r>
            <a:endParaRPr lang="en-US" sz="3200" dirty="0"/>
          </a:p>
        </p:txBody>
      </p:sp>
      <p:sp>
        <p:nvSpPr>
          <p:cNvPr id="3" name="stat Timeframe shown"/>
          <p:cNvSpPr/>
          <p:nvPr/>
        </p:nvSpPr>
        <p:spPr>
          <a:xfrm>
            <a:off x="548640" y="1463040"/>
            <a:ext cx="3566160" cy="1554480"/>
          </a:xfrm>
          <a:prstGeom prst="roundRect">
            <a:avLst>
              <a:gd name="adj" fmla="val 7059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</a:rPr>
              <a:t>Timeframe shown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EF2F6"/>
                </a:solidFill>
              </a:rPr>
              <a:t>[15 Min]</a:t>
            </a:r>
            <a:endParaRPr lang="en-US" sz="1400" dirty="0"/>
          </a:p>
        </p:txBody>
      </p:sp>
      <p:sp>
        <p:nvSpPr>
          <p:cNvPr id="5" name="stat Relative volume"/>
          <p:cNvSpPr/>
          <p:nvPr/>
        </p:nvSpPr>
        <p:spPr>
          <a:xfrm>
            <a:off x="4297680" y="1463040"/>
            <a:ext cx="3566160" cy="1554480"/>
          </a:xfrm>
          <a:prstGeom prst="roundRect">
            <a:avLst>
              <a:gd name="adj" fmla="val 7059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26280" y="16002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</a:rPr>
              <a:t>Relative volume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</a:rPr>
              <a:t>[0.00×]</a:t>
            </a:r>
            <a:endParaRPr lang="en-US" sz="1400" dirty="0"/>
          </a:p>
        </p:txBody>
      </p:sp>
      <p:sp>
        <p:nvSpPr>
          <p:cNvPr id="7" name="stat Label"/>
          <p:cNvSpPr/>
          <p:nvPr/>
        </p:nvSpPr>
        <p:spPr>
          <a:xfrm>
            <a:off x="8046720" y="1463040"/>
            <a:ext cx="3566160" cy="1554480"/>
          </a:xfrm>
          <a:prstGeom prst="roundRect">
            <a:avLst>
              <a:gd name="adj" fmla="val 7059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75320" y="16002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</a:rPr>
              <a:t>Label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2C7B7"/>
                </a:solidFill>
              </a:rPr>
              <a:t>[Confirmed]</a:t>
            </a:r>
            <a:endParaRPr lang="en-US" sz="1400" dirty="0"/>
          </a:p>
        </p:txBody>
      </p:sp>
      <p:sp>
        <p:nvSpPr>
          <p:cNvPr id="9" name="card Our numbers and what they mean"/>
          <p:cNvSpPr/>
          <p:nvPr/>
        </p:nvSpPr>
        <p:spPr>
          <a:xfrm>
            <a:off x="548640" y="3291840"/>
            <a:ext cx="110642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474720"/>
            <a:ext cx="10607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766E"/>
                </a:solidFill>
              </a:rPr>
              <a:t>Our numbers and what they mean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Last bar volume [__] ÷ average of the 20 bars before it [__] = [__×]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Why the label says this: [e.g. 1.6× and the bar moved down with a Sell Summary → Confirmed]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What a trader should do with it: [one sentence]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433"/>
                </a:solidFill>
              </a:rPr>
              <a:t>Our biggest mismatch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004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Timeframe and bar time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Investing.com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[Hourly, HH:MM SGT]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[e.g. STOCH(9,6)]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rd Explanation"/>
          <p:cNvSpPr/>
          <p:nvPr/>
        </p:nvSpPr>
        <p:spPr>
          <a:xfrm>
            <a:off x="548640" y="2651760"/>
            <a:ext cx="110642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2834640"/>
            <a:ext cx="10607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766E"/>
                </a:solidFill>
              </a:rPr>
              <a:t>Explanation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Why they differ: [delay, forming vs completed bar, different settings, or a bug we found]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What we did about it: [fixed in commit ___ / explained in verify.md, line ___]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2433"/>
                </a:solidFill>
              </a:rPr>
              <a:t>Volume check: our volume for one bar [__] vs the same bar on Investing.com's chart [__]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433"/>
                </a:solidFill>
              </a:rPr>
              <a:t>Our four weekly calls (vW8)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017520"/>
                <a:gridCol w="3017520"/>
                <a:gridCol w="2103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Locked call (Wed 28 Oct)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(Fri 30 Oct close)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S&amp;P 500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[__%]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Nasdaq 100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[__%]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[__%]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10-year yield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 bp]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2433"/>
                </a:solidFill>
              </a:rPr>
              <a:t>Best call and why: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2433"/>
                </a:solidFill>
              </a:rPr>
              <a:t>[one sentence]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2433"/>
                </a:solidFill>
              </a:rPr>
              <a:t>Worst call and what we learned: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2433"/>
                </a:solidFill>
              </a:rPr>
              <a:t>[one sentence]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433"/>
                </a:solidFill>
              </a:rPr>
              <a:t>How we worked this sprint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737360"/>
                <a:gridCol w="43891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Member (role)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Commits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Stand-ups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Owned (FigJam card)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 (R1)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 of 3]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[card]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 (R2)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 of 3]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[card]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 (R3)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 of 3]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[card]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 (R4)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 of 3]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[card]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 (R5)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 of 3]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[card]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 (R6)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 of 3]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[card]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</a:rPr>
              <a:t>Merges into main: </a:t>
            </a:r>
            <a:pPr indent="0" marL="0">
              <a:buNone/>
            </a:pPr>
            <a:r>
              <a:rPr lang="en-US" sz="1500" dirty="0">
                <a:solidFill>
                  <a:srgbClr val="1A2433"/>
                </a:solidFill>
              </a:rPr>
              <a:t>[__]   </a:t>
            </a:r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</a:rPr>
              <a:t>Largest share of commits: </a:t>
            </a:r>
            <a:pPr indent="0" marL="0">
              <a:buNone/>
            </a:pPr>
            <a:r>
              <a:rPr lang="en-US" sz="1500" dirty="0">
                <a:solidFill>
                  <a:srgbClr val="1A2433"/>
                </a:solidFill>
              </a:rPr>
              <a:t>[__%] (limit 40%)   </a:t>
            </a:r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</a:rPr>
              <a:t>Working agreement: </a:t>
            </a:r>
            <a:pPr indent="0" marL="0">
              <a:buNone/>
            </a:pPr>
            <a:r>
              <a:rPr lang="en-US" sz="1500" dirty="0">
                <a:solidFill>
                  <a:srgbClr val="1A2433"/>
                </a:solidFill>
              </a:rPr>
              <a:t>[FigJam link]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2F6"/>
                </a:solidFill>
              </a:rPr>
              <a:t>Retrospective and what we fix first</a:t>
            </a:r>
            <a:endParaRPr lang="en-US" sz="3200" dirty="0"/>
          </a:p>
        </p:txBody>
      </p:sp>
      <p:sp>
        <p:nvSpPr>
          <p:cNvPr id="3" name="card Improved our teamwork"/>
          <p:cNvSpPr/>
          <p:nvPr/>
        </p:nvSpPr>
        <p:spPr>
          <a:xfrm>
            <a:off x="54864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13304D"/>
          </a:solidFill>
          <a:ln w="9525">
            <a:solidFill>
              <a:srgbClr val="13304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2C7B7"/>
                </a:solidFill>
              </a:rPr>
              <a:t>Improved our teamwork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[one thing]</a:t>
            </a:r>
            <a:endParaRPr lang="en-US" sz="1600" dirty="0"/>
          </a:p>
        </p:txBody>
      </p:sp>
      <p:sp>
        <p:nvSpPr>
          <p:cNvPr id="5" name="card Did not work"/>
          <p:cNvSpPr/>
          <p:nvPr/>
        </p:nvSpPr>
        <p:spPr>
          <a:xfrm>
            <a:off x="429768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13304D"/>
          </a:solidFill>
          <a:ln w="9525">
            <a:solidFill>
              <a:srgbClr val="1330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26280" y="164592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5B942"/>
                </a:solidFill>
              </a:rPr>
              <a:t>Did not work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[one thing]</a:t>
            </a:r>
            <a:endParaRPr lang="en-US" sz="1600" dirty="0"/>
          </a:p>
        </p:txBody>
      </p:sp>
      <p:sp>
        <p:nvSpPr>
          <p:cNvPr id="7" name="card First fix in Sprint 9"/>
          <p:cNvSpPr/>
          <p:nvPr/>
        </p:nvSpPr>
        <p:spPr>
          <a:xfrm>
            <a:off x="804672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13304D"/>
          </a:solidFill>
          <a:ln w="9525">
            <a:solidFill>
              <a:srgbClr val="1330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75320" y="164592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EF2F6"/>
                </a:solidFill>
              </a:rPr>
              <a:t>First fix in Sprint 9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EF2F6"/>
                </a:solidFill>
              </a:rPr>
              <a:t>[the item, the owner, the date]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3DE"/>
                </a:solidFill>
              </a:rPr>
              <a:t>Recorded in docs/live-test.md today.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FA1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3405 Sprint 8">
  <a:themeElements>
    <a:clrScheme name="CP3405 Sprint 8">
      <a:dk1>
        <a:srgbClr val="0B1F33"/>
      </a:dk1>
      <a:lt1>
        <a:srgbClr val="F5F7FA"/>
      </a:lt1>
      <a:dk2>
        <a:srgbClr val="1A2433"/>
      </a:dk2>
      <a:lt2>
        <a:srgbClr val="FFFFFF"/>
      </a:lt2>
      <a:accent1>
        <a:srgbClr val="12C7B7"/>
      </a:accent1>
      <a:accent2>
        <a:srgbClr val="F5B942"/>
      </a:accent2>
      <a:accent3>
        <a:srgbClr val="0F766E"/>
      </a:accent3>
      <a:accent4>
        <a:srgbClr val="13304D"/>
      </a:accent4>
      <a:accent5>
        <a:srgbClr val="5B6675"/>
      </a:accent5>
      <a:accent6>
        <a:srgbClr val="D5DBE3"/>
      </a:accent6>
      <a:hlink>
        <a:srgbClr val="0F766E"/>
      </a:hlink>
      <a:folHlink>
        <a:srgbClr val="5B6675"/>
      </a:folHlink>
    </a:clrScheme>
    <a:fontScheme name="CP3405 Sprint 8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CP3405 Sprint 8 - Team presentation template</dc:title>
  <dc:subject>PptxGenJS Presentation</dc:subject>
  <dc:creator>CP3405 TR3 2026</dc:creator>
  <cp:lastModifiedBy>CP3405 TR3 2026</cp:lastModifiedBy>
  <cp:revision>1</cp:revision>
  <dcterms:created xsi:type="dcterms:W3CDTF">2026-10-26T04:42:24Z</dcterms:created>
  <dcterms:modified xsi:type="dcterms:W3CDTF">2026-10-26T04:42:24Z</dcterms:modified>
</cp:coreProperties>
</file>