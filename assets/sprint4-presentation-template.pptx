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4" r:id="rId15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[TEAM NAME]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42900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[N]  ·  vW[N]  ·  [Date]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CP3405 Design Thinking III  ·  TR3 2026</a:t>
            </a:r>
            <a:endParaRPr lang="en-US" sz="1200" dirty="0"/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C9A84C"/>
                </a:solidFill>
              </a:defRPr>
            </a:pPr>
            <a:r>
              <a:rPr>
                <a:solidFill/>
              </a:rPr>
              <a:t>Prediction Challenge: S&amp;P 500 · Nasdaq-100 · Gold futures (/GC) — locked Wed 23:59 · scored Sat AM SGT · defended Monday (oral)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576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12C7B7"/>
                </a:solidFill>
                <a:latin typeface="Arial"/>
              </a:rPr>
              <a:t>Dashboard: [your team’s ui/index.html link]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ROTATION LOG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 Rotation — Who Held Each Role, Each Sprint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0972800" cy="2350000"/>
        </p:xfrm>
        <a:graphic>
          <a:graphicData uri="http://schemas.openxmlformats.org/drawingml/2006/table">
            <a:tbl>
              <a:tblPr/>
              <a:tblGrid>
                <a:gridCol w="1500000"/>
                <a:gridCol w="1578800"/>
                <a:gridCol w="1578800"/>
                <a:gridCol w="1578800"/>
                <a:gridCol w="1578800"/>
                <a:gridCol w="1578800"/>
                <a:gridCol w="1578800"/>
              </a:tblGrid>
              <a:tr h="520000"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</a:rPr>
                        <a:t>Sprint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</a:rPr>
                        <a:t>R1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</a:rPr>
                        <a:t>R2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</a:rPr>
                        <a:t>R3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</a:rPr>
                        <a:t>R4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</a:rPr>
                        <a:t>R5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</a:rPr>
                        <a:t>R6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</a:tr>
              <a:tr h="610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02033"/>
                          </a:solidFill>
                        </a:rPr>
                        <a:t>Sprint 2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02033"/>
                          </a:solidFill>
                        </a:rPr>
                        <a:t>Name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02033"/>
                          </a:solidFill>
                        </a:rPr>
                        <a:t>Name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02033"/>
                          </a:solidFill>
                        </a:rPr>
                        <a:t>Name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02033"/>
                          </a:solidFill>
                        </a:rPr>
                        <a:t>Name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02033"/>
                          </a:solidFill>
                        </a:rPr>
                        <a:t>Name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02033"/>
                          </a:solidFill>
                        </a:rPr>
                        <a:t>Name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6F3"/>
                    </a:solidFill>
                  </a:tcPr>
                </a:tc>
              </a:tr>
              <a:tr h="610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02033"/>
                          </a:solidFill>
                        </a:rPr>
                        <a:t>Sprint 3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02033"/>
                          </a:solidFill>
                        </a:rPr>
                        <a:t>Name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02033"/>
                          </a:solidFill>
                        </a:rPr>
                        <a:t>Name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02033"/>
                          </a:solidFill>
                        </a:rPr>
                        <a:t>Name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02033"/>
                          </a:solidFill>
                        </a:rPr>
                        <a:t>Name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02033"/>
                          </a:solidFill>
                        </a:rPr>
                        <a:t>Name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02033"/>
                          </a:solidFill>
                        </a:rPr>
                        <a:t>Name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D"/>
                    </a:solidFill>
                  </a:tcPr>
                </a:tc>
              </a:tr>
              <a:tr h="6100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02033"/>
                          </a:solidFill>
                        </a:rPr>
                        <a:t>Sprint 4 (current)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6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02033"/>
                          </a:solidFill>
                        </a:rPr>
                        <a:t>Name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6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02033"/>
                          </a:solidFill>
                        </a:rPr>
                        <a:t>Name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6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02033"/>
                          </a:solidFill>
                        </a:rPr>
                        <a:t>Name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6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02033"/>
                          </a:solidFill>
                        </a:rPr>
                        <a:t>Name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6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02033"/>
                          </a:solidFill>
                        </a:rPr>
                        <a:t>Name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6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02033"/>
                          </a:solidFill>
                        </a:rPr>
                        <a:t>Name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6E1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154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READ THIS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202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sprint’s row is a different color — teal for Sprint 2, amber for Sprint 3, coral for Sprint 4 (this sprint, in bold) — so the rotation is visible at a glance. R1 (Scrum Master): update this table from data/roles.json before Monday’s presentation. Add a new row at the start of every future sprint — never delete an old one.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CP3405 Design Thinking III  ·  TR3 2026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 — PRODUCT OWNER &amp; SCRUM MASTER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Goal &amp; Definition of Done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09728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1691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GOAL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65960"/>
            <a:ext cx="10424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[State this sprint's goal in one sentence]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17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 OF DONE — STATUS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429000"/>
            <a:ext cx="1097280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731520" y="3465576"/>
            <a:ext cx="365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34655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[Criterion 1]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097280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731520" y="3968496"/>
            <a:ext cx="365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396849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[Criterion 2]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434840"/>
            <a:ext cx="1097280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731520" y="4471416"/>
            <a:ext cx="365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447141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[Criterion 3]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937760"/>
            <a:ext cx="1097280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731520" y="4974336"/>
            <a:ext cx="365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497433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[Criterion 4]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CP3405 Design Thinking III  ·  TR3 2026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22" name="TextBox 21"/>
          <p:cNvSpPr txBox="1"/>
          <p:nvPr/>
        </p:nvSpPr>
        <p:spPr>
          <a:xfrm>
            <a:off x="548640" y="5390000"/>
            <a:ext cx="11064240" cy="1107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b="1" sz="1100">
                <a:solidFill>
                  <a:srgbClr val="12C7B7"/>
                </a:solidFill>
              </a:defRPr>
            </a:pPr>
            <a:r>
              <a:t>DASHBOARD EVIDENCE — ROLES · GITHUB · FIGJAM</a:t>
            </a:r>
          </a:p>
          <a:p>
            <a:pPr>
              <a:spcAft>
                <a:spcPts val="300"/>
              </a:spcAft>
              <a:defRPr sz="1100">
                <a:solidFill>
                  <a:srgbClr val="374151"/>
                </a:solidFill>
              </a:defRPr>
            </a:pPr>
            <a:r>
              <a:rPr>
                <a:solidFill/>
              </a:rPr>
              <a:t>•  [Roles panel: who held each role this sprint — does it match who actually committed?]</a:t>
            </a:r>
          </a:p>
          <a:p>
            <a:pPr>
              <a:spcAft>
                <a:spcPts val="300"/>
              </a:spcAft>
              <a:defRPr sz="1100">
                <a:solidFill>
                  <a:srgbClr val="374151"/>
                </a:solidFill>
              </a:defRPr>
            </a:pPr>
            <a:r>
              <a:t>•  [GitHub + FigJam panels: live since Tuesday, or built the night before?]</a:t>
            </a:r>
          </a:p>
          <a:p>
            <a:pPr>
              <a:spcAft>
                <a:spcPts val="300"/>
              </a:spcAft>
              <a:defRPr sz="1100">
                <a:solidFill>
                  <a:srgbClr val="374151"/>
                </a:solidFill>
              </a:defRPr>
            </a:pPr>
            <a:r>
              <a:t>•  [Insert screenshot of your team's actual dashboard here]</a:t>
            </a:r>
          </a:p>
          <a:p>
            <a:pPr>
              <a:spcAft>
                <a:spcPts val="300"/>
              </a:spcAft>
            </a:pPr>
            <a:r>
              <a:rPr sz="1100"/>
              <a:t>•  Did not attend Monday’s presentation: [names, or “none”]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R2 — ALMANAC &amp; MACRO ANALYST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Almanac &amp; Macro Signal — Backing the S&amp;P 500 Call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1764792"/>
            <a:ext cx="128016" cy="128016"/>
          </a:xfrm>
          <a:prstGeom prst="ellipse">
            <a:avLst/>
          </a:prstGeom>
          <a:solidFill>
            <a:srgbClr val="F5B942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1709928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ALMANAC SIGNAL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57400"/>
            <a:ext cx="4892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 pattern, historical strength (Strong/Moderate/Weak)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06040"/>
            <a:ext cx="4892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[Fill in this week's finding]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72200" y="155448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446520" y="1764792"/>
            <a:ext cx="128016" cy="128016"/>
          </a:xfrm>
          <a:prstGeom prst="ellipse">
            <a:avLst/>
          </a:prstGeom>
          <a:solidFill>
            <a:srgbClr val="12C7B7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675120" y="1709928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 SIGNAL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057400"/>
            <a:ext cx="4892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 language, yields, inflation data, sector rotation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606040"/>
            <a:ext cx="4892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[Fill in this week's finding]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69080"/>
            <a:ext cx="10972800" cy="1737360"/>
          </a:xfrm>
          <a:prstGeom prst="roundRect">
            <a:avLst>
              <a:gd name="adj" fmla="val 4211"/>
            </a:avLst>
          </a:prstGeom>
          <a:solidFill>
            <a:srgbClr val="0E2A52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22960" y="42519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ALMANAC + MACRO THESIS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572000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[One paragraph combining both signals into a hypothesis — end with your one-sentence "why" for the S&amp;P 500 call, the same sentence that goes in predictions/vW4.json]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CP3405 Design Thinking III  ·  TR3 2026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R3 — TECHNICAL &amp; ECONOMIC ANALYST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 Evidence &amp; Key Levels — Backing the Nasdaq-100 Call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67512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9050">
            <a:solidFill>
              <a:srgbClr val="E6EBF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667512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[Insert screenshot of script output / terminal here]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498080" y="155448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LEVELS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1847088"/>
            <a:ext cx="4023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[Fill in]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498080" y="26517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 STRUCTURE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498080" y="2944368"/>
            <a:ext cx="4023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[Fill in]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498080" y="374904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MOMENTUM SIGNAL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4041648"/>
            <a:ext cx="4023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[Fill in]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484632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 SIGNAL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0" y="5138928"/>
            <a:ext cx="4023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[Fill in — use this to write your Nasdaq-100 one-sentence reason for predictions/vW4.json]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CP3405 Design Thinking III  ·  TR3 2026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R4 — DATA &amp; CALIBRATION LEAD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&amp; Prescription — Backing the Gold Call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09728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2286000"/>
                <a:gridCol w="2286000"/>
                <a:gridCol w="2286000"/>
              </a:tblGrid>
              <a:tr h="502920">
                <a:tc>
                  <a:txBody>
                    <a:bodyPr/>
                    <a:lstStyle/>
                    <a:p>
                      <a:r>
                        <a:t>Field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Value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Field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Value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t>Predicted (Sprint 3)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[Fill in]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Actual close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7,743.41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t>Error (points)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[Fill in]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Error (%)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[Fill in]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t>Top contributing agent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[Fill in]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Direction correct?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[Fill in]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7490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PRESCRIPTION FOR NEXT SPRINT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[Your gold one-sentence reason, UP or DOWN — then one specific change to how you weight an agent next sprint, from your delta script's output]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CP3405 Design Thinking III  ·  TR3 2026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R5 — HUMAN SCORE &amp; UI LEAD ★ MOST IMPORTANT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Score, Wild Card &amp; UI Status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0972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25400">
            <a:solidFill>
              <a:srgbClr val="F5B942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17373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SCORE REASONING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[Confirm / adjust / override the AI consensus — and why]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703320"/>
            <a:ext cx="10972800" cy="1920240"/>
          </a:xfrm>
          <a:prstGeom prst="roundRect">
            <a:avLst>
              <a:gd name="adj" fmla="val 3810"/>
            </a:avLst>
          </a:prstGeom>
          <a:solidFill>
            <a:srgbClr val="0E2A52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22960" y="3886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WILD CARD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20624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[The one observation that didn't fit neatly anywhere else]</a:t>
            </a:r>
            <a:endParaRPr lang="en-US" sz="1400" dirty="0"/>
          </a:p>
          <a:p>
            <a:pPr>
              <a:spcBef>
                <a:spcPts val="1400"/>
              </a:spcBef>
            </a:pPr>
            <a:r>
              <a:rPr sz="1400">
                <a:solidFill>
                  <a:srgbClr val="FFFFFF"/>
                </a:solidFill>
                <a:latin typeface="Arial"/>
              </a:rPr>
              <a:t>UI STATUS: [dashboard link] · panels live since Tuesday: [yes/no] · what changed this week: [Fill in]</a:t>
            </a:r>
          </a:p>
        </p:txBody>
      </p:sp>
      <p:sp>
        <p:nvSpPr>
          <p:cNvPr id="10" name="Text 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CP3405 Design Thinking III  ·  TR3 2026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R6 — LLM &amp; GITHUB OPERATOR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Comparison &amp; Repo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645920"/>
                <a:gridCol w="1645920"/>
              </a:tblGrid>
              <a:tr h="457200">
                <a:tc>
                  <a:txBody>
                    <a:bodyPr/>
                    <a:lstStyle/>
                    <a:p>
                      <a:r>
                        <a:t>Model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SPX / NDX / Gold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Confidence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A5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ChatGPT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[ / / ]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[ ]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Gemini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[ / / ]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[ ]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DeepSeek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[ / / ]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[ ]</a:t>
                      </a: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B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17920" y="155448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AGREEMENT / DIVERGENCE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6217920" y="1874520"/>
            <a:ext cx="5303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[What does the spread across models reveal about uncertainty?]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3749040"/>
            <a:ext cx="1097280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822960" y="3931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STATUS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251960"/>
            <a:ext cx="10424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 tag: [vW4]    ·    Repo evidence this sprint: [describe]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CP3405 Design Thinking III  ·  TR3 2026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C7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 — PRODUCT OWNER &amp; SCRUM MASTER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Retrospective &amp; Next Sprint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10512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175564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WORKED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94560"/>
            <a:ext cx="31089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[Fill in]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25112" y="155448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3712" y="1810512"/>
            <a:ext cx="128016" cy="128016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82312" y="175564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DIDN'T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53712" y="2194560"/>
            <a:ext cx="31089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[Fill in]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01584" y="155448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6EBF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30184" y="1810512"/>
            <a:ext cx="128016" cy="128016"/>
          </a:xfrm>
          <a:prstGeom prst="ellipse">
            <a:avLst/>
          </a:prstGeom>
          <a:solidFill>
            <a:srgbClr val="12C7B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558784" y="175564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CHANGE FOR NEXT SPRINT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330184" y="2194560"/>
            <a:ext cx="31089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[Fill in]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754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2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member roles this sprint (rotation log)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0749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[Name — Role]   ·   [Name — Role]   ·   [Name — Role]   ·   [Name — Role]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CP3405 Design Thinking III  ·  TR3 2026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2026-09-13T15:54:45Z</dcterms:created>
  <dcterms:modified xsi:type="dcterms:W3CDTF">2026-09-13T15:54:45Z</dcterms:modified>
</cp:coreProperties>
</file>